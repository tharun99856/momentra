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9E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03504"/>
            <a:ext cx="64008" cy="64008"/>
          </a:xfrm>
          <a:prstGeom prst="rect">
            <a:avLst/>
          </a:prstGeom>
          <a:solidFill>
            <a:srgbClr val="1D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240">
                <a:solidFill>
                  <a:srgbClr val="1D1A14"/>
                </a:solidFill>
                <a:latin typeface="Inter"/>
              </a:rPr>
              <a:t>PRESENTATION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868680"/>
            <a:ext cx="548640" cy="0"/>
          </a:xfrm>
          <a:prstGeom prst="line">
            <a:avLst/>
          </a:prstGeom>
          <a:ln w="6350">
            <a:solidFill>
              <a:srgbClr val="D6C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920240"/>
            <a:ext cx="91440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0" b="0" i="0">
                <a:solidFill>
                  <a:srgbClr val="1D1A14"/>
                </a:solidFill>
                <a:latin typeface="Instrument Serif"/>
              </a:rPr>
              <a:t>Momentra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23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1">
                <a:solidFill>
                  <a:srgbClr val="6E675B"/>
                </a:solidFill>
                <a:latin typeface="Instrument Serif"/>
              </a:rPr>
              <a:t>Capture every moment, share every story.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5577840"/>
            <a:ext cx="10607040" cy="0"/>
          </a:xfrm>
          <a:prstGeom prst="line">
            <a:avLst/>
          </a:prstGeom>
          <a:ln w="6350">
            <a:solidFill>
              <a:srgbClr val="E9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5806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D1A14"/>
                </a:solidFill>
                <a:latin typeface="Inter"/>
              </a:rPr>
              <a:t>A photo and video platform for college clubs.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17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160">
                <a:solidFill>
                  <a:srgbClr val="A8A08F"/>
                </a:solidFill>
                <a:latin typeface="Inter"/>
              </a:rPr>
              <a:t>[Your team] · [Competition]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94944"/>
            <a:ext cx="64008" cy="64008"/>
          </a:xfrm>
          <a:prstGeom prst="rect">
            <a:avLst/>
          </a:prstGeom>
          <a:solidFill>
            <a:srgbClr val="1D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240">
                <a:solidFill>
                  <a:srgbClr val="1D1A14"/>
                </a:solidFill>
                <a:latin typeface="Inter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0" i="0">
                <a:solidFill>
                  <a:srgbClr val="1D1A14"/>
                </a:solidFill>
                <a:latin typeface="Instrument Serif"/>
              </a:rPr>
              <a:t>Club photos live everywhere.
A member's own picture from
last term's trip is unfindable.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4480560"/>
            <a:ext cx="10607040" cy="0"/>
          </a:xfrm>
          <a:prstGeom prst="line">
            <a:avLst/>
          </a:prstGeom>
          <a:ln w="6350">
            <a:solidFill>
              <a:srgbClr val="E9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4709160"/>
            <a:ext cx="6400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E675B"/>
                </a:solidFill>
                <a:latin typeface="Inter"/>
              </a:rPr>
              <a:t>WhatsApp groups, Drive folders, photographers' laptops. Asking five people for a single photo is the
default workflow. The shared visual memory of a club erodes every semester.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9E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160">
                <a:solidFill>
                  <a:srgbClr val="6E675B"/>
                </a:solidFill>
                <a:latin typeface="Inter"/>
              </a:rPr>
              <a:t>02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56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 i="1">
                <a:solidFill>
                  <a:srgbClr val="6E675B"/>
                </a:solidFill>
                <a:latin typeface="Instrument Serif"/>
              </a:rPr>
              <a:t>Momentra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94944"/>
            <a:ext cx="64008" cy="64008"/>
          </a:xfrm>
          <a:prstGeom prst="rect">
            <a:avLst/>
          </a:prstGeom>
          <a:solidFill>
            <a:srgbClr val="1D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240">
                <a:solidFill>
                  <a:srgbClr val="1D1A14"/>
                </a:solidFill>
                <a:latin typeface="Inter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 i="0">
                <a:solidFill>
                  <a:srgbClr val="1D1A14"/>
                </a:solidFill>
                <a:latin typeface="Instrument Serif"/>
              </a:rPr>
              <a:t>One place for a club's visual memory.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2743200"/>
            <a:ext cx="10607040" cy="0"/>
          </a:xfrm>
          <a:prstGeom prst="line">
            <a:avLst/>
          </a:prstGeom>
          <a:ln w="6350">
            <a:solidFill>
              <a:srgbClr val="E9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0175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E675B"/>
                </a:solidFill>
                <a:latin typeface="Inter"/>
              </a:rPr>
              <a:t>Events are the unit. Every photo belongs to an event. Everything else is built around that.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93192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10287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D1A14"/>
                </a:solidFill>
                <a:latin typeface="Inter"/>
              </a:rPr>
              <a:t>Drag-and-drop upload with client-side compression and live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15968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15968"/>
            <a:ext cx="10287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D1A14"/>
                </a:solidFill>
                <a:latin typeface="Inter"/>
              </a:rPr>
              <a:t>Per-event masonry gallery, photo viewer with comments and likes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00016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00016"/>
            <a:ext cx="10287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D1A14"/>
                </a:solidFill>
                <a:latin typeface="Inter"/>
              </a:rPr>
              <a:t>Search across photos by tag, uploader, or event (Postgres FTS)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84064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84064"/>
            <a:ext cx="10287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D1A14"/>
                </a:solidFill>
                <a:latin typeface="Inter"/>
              </a:rPr>
              <a:t>“My photos” — find the media you appear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68112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68112"/>
            <a:ext cx="10287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D1A14"/>
                </a:solidFill>
                <a:latin typeface="Inter"/>
              </a:rPr>
              <a:t>Watermarked downloads scoped to the viewer's role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9E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160">
                <a:solidFill>
                  <a:srgbClr val="6E675B"/>
                </a:solidFill>
                <a:latin typeface="Inter"/>
              </a:rPr>
              <a:t>03 /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56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 i="1">
                <a:solidFill>
                  <a:srgbClr val="6E675B"/>
                </a:solidFill>
                <a:latin typeface="Instrument Serif"/>
              </a:rPr>
              <a:t>Momentra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94944"/>
            <a:ext cx="64008" cy="64008"/>
          </a:xfrm>
          <a:prstGeom prst="rect">
            <a:avLst/>
          </a:prstGeom>
          <a:solidFill>
            <a:srgbClr val="1D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240">
                <a:solidFill>
                  <a:srgbClr val="1D1A14"/>
                </a:solidFill>
                <a:latin typeface="Inter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 i="0">
                <a:solidFill>
                  <a:srgbClr val="1D1A14"/>
                </a:solidFill>
                <a:latin typeface="Instrument Serif"/>
              </a:rPr>
              <a:t>Three minutes, end to end.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2743200"/>
            <a:ext cx="10607040" cy="0"/>
          </a:xfrm>
          <a:prstGeom prst="line">
            <a:avLst/>
          </a:prstGeom>
          <a:ln w="6350">
            <a:solidFill>
              <a:srgbClr val="E9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A8A08F"/>
                </a:solidFill>
                <a:latin typeface="Instrument Serif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017520"/>
            <a:ext cx="10104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D1A14"/>
                </a:solidFill>
                <a:latin typeface="Inter"/>
              </a:rPr>
              <a:t>Sign in as photographer@frame.dev — see the cream sidebar and serif wordmark.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A8A08F"/>
                </a:solidFill>
                <a:latin typeface="Instrument Serif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429000"/>
            <a:ext cx="10104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D1A14"/>
                </a:solidFill>
                <a:latin typeface="Inter"/>
              </a:rPr>
              <a:t>Upload three photos to an event — variants render, progress bar reaches 100%.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404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A8A08F"/>
                </a:solidFill>
                <a:latin typeface="Instrument Serif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840480"/>
            <a:ext cx="10104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D1A14"/>
                </a:solidFill>
                <a:latin typeface="Inter"/>
              </a:rPr>
              <a:t>Switch to member@frame.dev — browse the same gallery.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A8A08F"/>
                </a:solidFill>
                <a:latin typeface="Instrument Serif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51960"/>
            <a:ext cx="10104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D1A14"/>
                </a:solidFill>
                <a:latin typeface="Inter"/>
              </a:rPr>
              <a:t>Like, comment, favourite one photo.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A8A08F"/>
                </a:solidFill>
                <a:latin typeface="Instrument Serif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663440"/>
            <a:ext cx="10104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D1A14"/>
                </a:solidFill>
                <a:latin typeface="Inter"/>
              </a:rPr>
              <a:t>Search “trip” — results across events and media.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749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A8A08F"/>
                </a:solidFill>
                <a:latin typeface="Instrument Serif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074920"/>
            <a:ext cx="10104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D1A14"/>
                </a:solidFill>
                <a:latin typeface="Inter"/>
              </a:rPr>
              <a:t>Download a photo — watermark with role and event name overlays the JPEG.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9E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160">
                <a:solidFill>
                  <a:srgbClr val="6E675B"/>
                </a:solidFill>
                <a:latin typeface="Inter"/>
              </a:rPr>
              <a:t>04 / 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56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 i="1">
                <a:solidFill>
                  <a:srgbClr val="6E675B"/>
                </a:solidFill>
                <a:latin typeface="Instrument Serif"/>
              </a:rPr>
              <a:t>Momentra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94944"/>
            <a:ext cx="64008" cy="64008"/>
          </a:xfrm>
          <a:prstGeom prst="rect">
            <a:avLst/>
          </a:prstGeom>
          <a:solidFill>
            <a:srgbClr val="1D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240">
                <a:solidFill>
                  <a:srgbClr val="1D1A14"/>
                </a:solidFill>
                <a:latin typeface="Inter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0" i="0">
                <a:solidFill>
                  <a:srgbClr val="1D1A14"/>
                </a:solidFill>
                <a:latin typeface="Instrument Serif"/>
              </a:rPr>
              <a:t>Three tiers. No hidden machinery.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2468880"/>
            <a:ext cx="10607040" cy="0"/>
          </a:xfrm>
          <a:prstGeom prst="line">
            <a:avLst/>
          </a:prstGeom>
          <a:ln w="6350">
            <a:solidFill>
              <a:srgbClr val="E9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77240" y="3108960"/>
            <a:ext cx="22860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4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324612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 spc="200">
                <a:solidFill>
                  <a:srgbClr val="A8A08F"/>
                </a:solidFill>
                <a:latin typeface="Inter"/>
              </a:rP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93008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D1A14"/>
                </a:solidFill>
                <a:latin typeface="Instrument Serif"/>
              </a:rPr>
              <a:t>React + Vite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3108960"/>
            <a:ext cx="22860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4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703320" y="324612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 spc="200">
                <a:solidFill>
                  <a:srgbClr val="A8A08F"/>
                </a:solidFill>
                <a:latin typeface="Inter"/>
              </a:rPr>
              <a:t>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493008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D1A14"/>
                </a:solidFill>
                <a:latin typeface="Instrument Serif"/>
              </a:rPr>
              <a:t>Express + Node 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108960"/>
            <a:ext cx="22860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4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324612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 spc="200">
                <a:solidFill>
                  <a:srgbClr val="A8A08F"/>
                </a:solidFill>
                <a:latin typeface="Inter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493008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D1A14"/>
                </a:solidFill>
                <a:latin typeface="Instrument Serif"/>
              </a:rPr>
              <a:t>PostgreSQL 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3108960"/>
            <a:ext cx="2286000" cy="960120"/>
          </a:xfrm>
          <a:prstGeom prst="rect">
            <a:avLst/>
          </a:prstGeom>
          <a:solidFill>
            <a:srgbClr val="F1ECE0"/>
          </a:solidFill>
          <a:ln w="6350">
            <a:solidFill>
              <a:srgbClr val="E9E4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89720" y="324612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 spc="200">
                <a:solidFill>
                  <a:srgbClr val="A8A08F"/>
                </a:solidFill>
                <a:latin typeface="Inter"/>
              </a:rPr>
              <a:t>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3493008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D1A14"/>
                </a:solidFill>
                <a:latin typeface="Instrument Serif"/>
              </a:rPr>
              <a:t>Filesystem · S3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63240" y="3584448"/>
            <a:ext cx="457200" cy="0"/>
          </a:xfrm>
          <a:prstGeom prst="line">
            <a:avLst/>
          </a:prstGeom>
          <a:ln w="6350">
            <a:solidFill>
              <a:srgbClr val="A8A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834640" y="341985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A8A08F"/>
                </a:solidFill>
                <a:latin typeface="Inter"/>
              </a:rPr>
              <a:t>REST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06440" y="3584448"/>
            <a:ext cx="457200" cy="0"/>
          </a:xfrm>
          <a:prstGeom prst="line">
            <a:avLst/>
          </a:prstGeom>
          <a:ln w="6350">
            <a:solidFill>
              <a:srgbClr val="A8A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577840" y="341985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A8A08F"/>
                </a:solidFill>
                <a:latin typeface="Inter"/>
              </a:rPr>
              <a:t>Prisma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49640" y="3584448"/>
            <a:ext cx="457200" cy="0"/>
          </a:xfrm>
          <a:prstGeom prst="line">
            <a:avLst/>
          </a:prstGeom>
          <a:ln w="6350">
            <a:solidFill>
              <a:srgbClr val="A8A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321040" y="341985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A8A08F"/>
                </a:solidFill>
                <a:latin typeface="Inter"/>
              </a:rPr>
              <a:t>fs · sdk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937760"/>
            <a:ext cx="10607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E675B"/>
                </a:solidFill>
                <a:latin typeface="Inter"/>
              </a:rPr>
              <a:t>Stateless API. Horizontal scale path is clear. The storage layer is a four-function abstraction
(uploadFile, getFileBuffer, deleteFiles, getMediaUrl) — swapping the filesystem for S3 is a one-file change.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9E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160">
                <a:solidFill>
                  <a:srgbClr val="6E675B"/>
                </a:solidFill>
                <a:latin typeface="Inter"/>
              </a:rPr>
              <a:t>05 / 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56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 i="1">
                <a:solidFill>
                  <a:srgbClr val="6E675B"/>
                </a:solidFill>
                <a:latin typeface="Instrument Serif"/>
              </a:rPr>
              <a:t>Momentra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94944"/>
            <a:ext cx="64008" cy="64008"/>
          </a:xfrm>
          <a:prstGeom prst="rect">
            <a:avLst/>
          </a:prstGeom>
          <a:solidFill>
            <a:srgbClr val="1D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240">
                <a:solidFill>
                  <a:srgbClr val="1D1A14"/>
                </a:solidFill>
                <a:latin typeface="Inter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D1A14"/>
                </a:solidFill>
                <a:latin typeface="Instrument Serif"/>
              </a:rPr>
              <a:t>Eleven tables. Six enums. Cascading deletes wherever ownership is unambiguous.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2926080"/>
            <a:ext cx="10607040" cy="0"/>
          </a:xfrm>
          <a:prstGeom prst="line">
            <a:avLst/>
          </a:prstGeom>
          <a:ln w="6350">
            <a:solidFill>
              <a:srgbClr val="E9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24612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4612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D1A14"/>
                </a:solidFill>
                <a:latin typeface="Inter"/>
              </a:rPr>
              <a:t>users — identity, bcrypt + face vector (reserved)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93592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93592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D1A14"/>
                </a:solidFill>
                <a:latin typeface="Inter"/>
              </a:rPr>
              <a:t>clubs — groups that host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41064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41064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D1A14"/>
                </a:solidFill>
                <a:latin typeface="Inter"/>
              </a:rPr>
              <a:t>club_members — composite PK, per-club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88536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88536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D1A14"/>
                </a:solidFill>
                <a:latin typeface="Inter"/>
              </a:rPr>
              <a:t>events — name, category, date, visibility, tsvector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36008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36008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D1A14"/>
                </a:solidFill>
                <a:latin typeface="Inter"/>
              </a:rPr>
              <a:t>media — variants, dimensions, tags, tsvector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8348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8348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D1A14"/>
                </a:solidFill>
                <a:latin typeface="Inter"/>
              </a:rPr>
              <a:t>likes — composite PK (user, media)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24612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4612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D1A14"/>
                </a:solidFill>
                <a:latin typeface="Inter"/>
              </a:rPr>
              <a:t>favourites — composite PK (user, media)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593592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593592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D1A14"/>
                </a:solidFill>
                <a:latin typeface="Inter"/>
              </a:rPr>
              <a:t>comments — self-referencing for one-level replies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941064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941064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D1A14"/>
                </a:solidFill>
                <a:latin typeface="Inter"/>
              </a:rPr>
              <a:t>photo_tags — unique (media, user)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288536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288536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D1A14"/>
                </a:solidFill>
                <a:latin typeface="Inter"/>
              </a:rPr>
              <a:t>downloads — append-only audit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636008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636008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D1A14"/>
                </a:solidFill>
                <a:latin typeface="Inter"/>
              </a:rPr>
              <a:t>notifications — recipient + actor + media (schema only)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98348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98348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D1A14"/>
                </a:solidFill>
                <a:latin typeface="Inter"/>
              </a:rPr>
              <a:t>refresh_tokens — revocable session registry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9E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160">
                <a:solidFill>
                  <a:srgbClr val="6E675B"/>
                </a:solidFill>
                <a:latin typeface="Inter"/>
              </a:rPr>
              <a:t>06 / 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856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 i="1">
                <a:solidFill>
                  <a:srgbClr val="6E675B"/>
                </a:solidFill>
                <a:latin typeface="Instrument Serif"/>
              </a:rPr>
              <a:t>Momentra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94944"/>
            <a:ext cx="64008" cy="64008"/>
          </a:xfrm>
          <a:prstGeom prst="rect">
            <a:avLst/>
          </a:prstGeom>
          <a:solidFill>
            <a:srgbClr val="1D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240">
                <a:solidFill>
                  <a:srgbClr val="1D1A14"/>
                </a:solidFill>
                <a:latin typeface="Inter"/>
              </a:rPr>
              <a:t>AUTH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 i="0">
                <a:solidFill>
                  <a:srgbClr val="1D1A14"/>
                </a:solidFill>
                <a:latin typeface="Instrument Serif"/>
              </a:rPr>
              <a:t>Boring, standard, revocable.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2743200"/>
            <a:ext cx="10607040" cy="0"/>
          </a:xfrm>
          <a:prstGeom prst="line">
            <a:avLst/>
          </a:prstGeom>
          <a:ln w="6350">
            <a:solidFill>
              <a:srgbClr val="E9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10896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10287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D1A14"/>
                </a:solidFill>
                <a:latin typeface="Inter"/>
              </a:rPr>
              <a:t>RS256 JWT — 15-minute access token in memory, 7-day refresh in httpOnly cookie.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93008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93008"/>
            <a:ext cx="10287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D1A14"/>
                </a:solidFill>
                <a:latin typeface="Inter"/>
              </a:rPr>
              <a:t>Refresh tokens are server-side rows. Logout revokes them. No localStorage exposure.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77056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77056"/>
            <a:ext cx="10287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D1A14"/>
                </a:solidFill>
                <a:latin typeface="Inter"/>
              </a:rPr>
              <a:t>Club-scoped roles (admin, photographer, member) enforced by middleware on every write.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61104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61104"/>
            <a:ext cx="10287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D1A14"/>
                </a:solidFill>
                <a:latin typeface="Inter"/>
              </a:rPr>
              <a:t>Uploads MIME-sniffed from buffer magic bytes — not the client's Content-Type header.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45152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45152"/>
            <a:ext cx="10287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D1A14"/>
                </a:solidFill>
                <a:latin typeface="Inter"/>
              </a:rPr>
              <a:t>Per-user concurrent-upload cap (3), 100 MB hard limit per file, 50 files per request.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2920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10287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D1A14"/>
                </a:solidFill>
                <a:latin typeface="Inter"/>
              </a:rPr>
              <a:t>Helmet (CSP, HSTS, X-Frame, X-Content-Type), rate limits on /auth (10/min) and /search (30/min).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9E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160">
                <a:solidFill>
                  <a:srgbClr val="6E675B"/>
                </a:solidFill>
                <a:latin typeface="Inter"/>
              </a:rPr>
              <a:t>07 / 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56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 i="1">
                <a:solidFill>
                  <a:srgbClr val="6E675B"/>
                </a:solidFill>
                <a:latin typeface="Instrument Serif"/>
              </a:rPr>
              <a:t>Momentra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94944"/>
            <a:ext cx="64008" cy="64008"/>
          </a:xfrm>
          <a:prstGeom prst="rect">
            <a:avLst/>
          </a:prstGeom>
          <a:solidFill>
            <a:srgbClr val="1D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240">
                <a:solidFill>
                  <a:srgbClr val="1D1A14"/>
                </a:solidFill>
                <a:latin typeface="Inter"/>
              </a:rPr>
              <a:t>MEDIA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 i="0">
                <a:solidFill>
                  <a:srgbClr val="1D1A14"/>
                </a:solidFill>
                <a:latin typeface="Instrument Serif"/>
              </a:rPr>
              <a:t>Variants are generated once. The gallery never serves originals.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2834640"/>
            <a:ext cx="10607040" cy="0"/>
          </a:xfrm>
          <a:prstGeom prst="line">
            <a:avLst/>
          </a:prstGeom>
          <a:ln w="6350">
            <a:solidFill>
              <a:srgbClr val="E9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77240" y="3200400"/>
            <a:ext cx="1828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4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33375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 spc="200">
                <a:solidFill>
                  <a:srgbClr val="A8A08F"/>
                </a:solidFill>
                <a:latin typeface="Inter"/>
              </a:rP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584448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D1A14"/>
                </a:solidFill>
                <a:latin typeface="Instrument Serif"/>
              </a:rPr>
              <a:t>multer (memory)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3200400"/>
            <a:ext cx="1828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4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108960" y="33375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 spc="200">
                <a:solidFill>
                  <a:srgbClr val="A8A08F"/>
                </a:solidFill>
                <a:latin typeface="Inter"/>
              </a:rPr>
              <a:t>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584448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D1A14"/>
                </a:solidFill>
                <a:latin typeface="Instrument Serif"/>
              </a:rPr>
              <a:t>fileTypeFromBuffer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4920" y="3200400"/>
            <a:ext cx="1828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4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257800" y="33375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 spc="200">
                <a:solidFill>
                  <a:srgbClr val="A8A08F"/>
                </a:solidFill>
                <a:latin typeface="Inter"/>
              </a:rPr>
              <a:t>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3584448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D1A14"/>
                </a:solidFill>
                <a:latin typeface="Instrument Serif"/>
              </a:rPr>
              <a:t>Sharp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3200400"/>
            <a:ext cx="1828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4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06640" y="33375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 spc="200">
                <a:solidFill>
                  <a:srgbClr val="A8A08F"/>
                </a:solidFill>
                <a:latin typeface="Inter"/>
              </a:rPr>
              <a:t>WRITE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584448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D1A14"/>
                </a:solidFill>
                <a:latin typeface="Instrument Serif"/>
              </a:rPr>
              <a:t>FS · S3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72600" y="3200400"/>
            <a:ext cx="1828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4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555480" y="33375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 spc="200">
                <a:solidFill>
                  <a:srgbClr val="A8A08F"/>
                </a:solidFill>
                <a:latin typeface="Inter"/>
              </a:rPr>
              <a:t>PERSIST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3584448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D1A14"/>
                </a:solidFill>
                <a:latin typeface="Instrument Serif"/>
              </a:rPr>
              <a:t>Prisma tx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06040" y="3675888"/>
            <a:ext cx="320040" cy="0"/>
          </a:xfrm>
          <a:prstGeom prst="line">
            <a:avLst/>
          </a:prstGeom>
          <a:ln w="6350">
            <a:solidFill>
              <a:srgbClr val="A8A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54880" y="3675888"/>
            <a:ext cx="320040" cy="0"/>
          </a:xfrm>
          <a:prstGeom prst="line">
            <a:avLst/>
          </a:prstGeom>
          <a:ln w="6350">
            <a:solidFill>
              <a:srgbClr val="A8A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903720" y="3675888"/>
            <a:ext cx="320040" cy="0"/>
          </a:xfrm>
          <a:prstGeom prst="line">
            <a:avLst/>
          </a:prstGeom>
          <a:ln w="6350">
            <a:solidFill>
              <a:srgbClr val="A8A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3675888"/>
            <a:ext cx="320040" cy="0"/>
          </a:xfrm>
          <a:prstGeom prst="line">
            <a:avLst/>
          </a:prstGeom>
          <a:ln w="6350">
            <a:solidFill>
              <a:srgbClr val="A8A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4937760"/>
            <a:ext cx="10607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E675B"/>
                </a:solidFill>
                <a:latin typeface="Inter"/>
              </a:rPr>
              <a:t>Original + compressed JPEG + 200px thumb + 600px thumb, all in one request, in a single DB transaction.
Originals re-emerge only at watermarked-download time.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9E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160">
                <a:solidFill>
                  <a:srgbClr val="6E675B"/>
                </a:solidFill>
                <a:latin typeface="Inter"/>
              </a:rPr>
              <a:t>08 / 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56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 i="1">
                <a:solidFill>
                  <a:srgbClr val="6E675B"/>
                </a:solidFill>
                <a:latin typeface="Instrument Serif"/>
              </a:rPr>
              <a:t>Momentra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94944"/>
            <a:ext cx="64008" cy="64008"/>
          </a:xfrm>
          <a:prstGeom prst="rect">
            <a:avLst/>
          </a:prstGeom>
          <a:solidFill>
            <a:srgbClr val="1D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240">
                <a:solidFill>
                  <a:srgbClr val="1D1A14"/>
                </a:solidFill>
                <a:latin typeface="Inter"/>
              </a:rPr>
              <a:t>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 i="0">
                <a:solidFill>
                  <a:srgbClr val="1D1A14"/>
                </a:solidFill>
                <a:latin typeface="Instrument Serif"/>
              </a:rPr>
              <a:t>Postgres knows how to search.
No Elasticsearch needed.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3840480"/>
            <a:ext cx="10607040" cy="0"/>
          </a:xfrm>
          <a:prstGeom prst="line">
            <a:avLst/>
          </a:prstGeom>
          <a:ln w="6350">
            <a:solidFill>
              <a:srgbClr val="E9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411480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E675B"/>
                </a:solidFill>
                <a:latin typeface="Inter"/>
              </a:rPr>
              <a:t>tsvector columns on events.search_vector and media.search_vector, maintained by triggers over name,
description, caption, and tags. GIN-indexed. Sub-50ms on the demo dataset. When the corpus crosses
~1M documents, the same query layer fan-outs to Meilisearch — no other code changes.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9E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160">
                <a:solidFill>
                  <a:srgbClr val="6E675B"/>
                </a:solidFill>
                <a:latin typeface="Inter"/>
              </a:rPr>
              <a:t>09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56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 i="1">
                <a:solidFill>
                  <a:srgbClr val="6E675B"/>
                </a:solidFill>
                <a:latin typeface="Instrument Serif"/>
              </a:rPr>
              <a:t>Momentra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94944"/>
            <a:ext cx="64008" cy="64008"/>
          </a:xfrm>
          <a:prstGeom prst="rect">
            <a:avLst/>
          </a:prstGeom>
          <a:solidFill>
            <a:srgbClr val="1D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240">
                <a:solidFill>
                  <a:srgbClr val="1D1A14"/>
                </a:solidFill>
                <a:latin typeface="Inter"/>
              </a:rPr>
              <a:t>ACCESS &amp; SHARING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 i="0">
                <a:solidFill>
                  <a:srgbClr val="1D1A14"/>
                </a:solidFill>
                <a:latin typeface="Instrument Serif"/>
              </a:rPr>
              <a:t>Public, private, and watermarked.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2743200"/>
            <a:ext cx="10607040" cy="0"/>
          </a:xfrm>
          <a:prstGeom prst="line">
            <a:avLst/>
          </a:prstGeom>
          <a:ln w="6350">
            <a:solidFill>
              <a:srgbClr val="E9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10896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10287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D1A14"/>
                </a:solidFill>
                <a:latin typeface="Inter"/>
              </a:rPr>
              <a:t>Public events — anyone with the URL can browse the gallery.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93008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93008"/>
            <a:ext cx="10287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D1A14"/>
                </a:solidFill>
                <a:latin typeface="Inter"/>
              </a:rPr>
              <a:t>Private events — gallery and downloads are gated by club membership.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77056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77056"/>
            <a:ext cx="10287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D1A14"/>
                </a:solidFill>
                <a:latin typeface="Inter"/>
              </a:rPr>
              <a:t>Shareable links — direct URL for public, expiring signed URL for private (S3 path).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61104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61104"/>
            <a:ext cx="10287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D1A14"/>
                </a:solidFill>
                <a:latin typeface="Inter"/>
              </a:rPr>
              <a:t>Downloads — Sharp overlays a watermark server-side at request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45152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45152"/>
            <a:ext cx="10287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D1A14"/>
                </a:solidFill>
                <a:latin typeface="Inter"/>
              </a:rPr>
              <a:t>  Members see club + event name. Photographers get a © credit 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2920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10287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D1A14"/>
                </a:solidFill>
                <a:latin typeface="Inter"/>
              </a:rPr>
              <a:t>Every download is logged in the downloads table for audit.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9E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160">
                <a:solidFill>
                  <a:srgbClr val="6E675B"/>
                </a:solidFill>
                <a:latin typeface="Inter"/>
              </a:rPr>
              <a:t>10 / 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56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 i="1">
                <a:solidFill>
                  <a:srgbClr val="6E675B"/>
                </a:solidFill>
                <a:latin typeface="Instrument Serif"/>
              </a:rPr>
              <a:t>Momentra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94944"/>
            <a:ext cx="64008" cy="64008"/>
          </a:xfrm>
          <a:prstGeom prst="rect">
            <a:avLst/>
          </a:prstGeom>
          <a:solidFill>
            <a:srgbClr val="1D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240">
                <a:solidFill>
                  <a:srgbClr val="1D1A14"/>
                </a:solidFill>
                <a:latin typeface="Inter"/>
              </a:rPr>
              <a:t>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 i="0">
                <a:solidFill>
                  <a:srgbClr val="1D1A14"/>
                </a:solidFill>
                <a:latin typeface="Instrument Serif"/>
              </a:rPr>
              <a:t>What we cut, and why.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2743200"/>
            <a:ext cx="10607040" cy="0"/>
          </a:xfrm>
          <a:prstGeom prst="line">
            <a:avLst/>
          </a:prstGeom>
          <a:ln w="6350">
            <a:solidFill>
              <a:srgbClr val="E9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01752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E675B"/>
                </a:solidFill>
                <a:latin typeface="Inter"/>
              </a:rPr>
              <a:t>The first version had every feature we could think of. The second version has only what survives a
second look. Each of these is a deliberate cut, not a missing feature: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10287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D1A14"/>
                </a:solidFill>
                <a:latin typeface="Inter"/>
              </a:rPr>
              <a:t>ML auto-tagging worker — face_descriptor and face_ids columns are reserved; the worker is phase two.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681728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81728"/>
            <a:ext cx="10287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D1A14"/>
                </a:solidFill>
                <a:latin typeface="Inter"/>
              </a:rPr>
              <a:t>Real-time updates via Socket.io — TanStack Query refetch was sufficient at this scale.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65776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065776"/>
            <a:ext cx="10287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D1A14"/>
                </a:solidFill>
                <a:latin typeface="Inter"/>
              </a:rPr>
              <a:t>Notification inbox — table exists, surfacing UI is phase two.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449824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449824"/>
            <a:ext cx="10287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D1A14"/>
                </a:solidFill>
                <a:latin typeface="Inter"/>
              </a:rPr>
              <a:t>Admin moderation dashboard — seeded admins use regular endpoints.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9E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160">
                <a:solidFill>
                  <a:srgbClr val="6E675B"/>
                </a:solidFill>
                <a:latin typeface="Inter"/>
              </a:rPr>
              <a:t>11 /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856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 i="1">
                <a:solidFill>
                  <a:srgbClr val="6E675B"/>
                </a:solidFill>
                <a:latin typeface="Instrument Serif"/>
              </a:rPr>
              <a:t>Momentra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94944"/>
            <a:ext cx="64008" cy="64008"/>
          </a:xfrm>
          <a:prstGeom prst="rect">
            <a:avLst/>
          </a:prstGeom>
          <a:solidFill>
            <a:srgbClr val="1D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240">
                <a:solidFill>
                  <a:srgbClr val="1D1A14"/>
                </a:solidFill>
                <a:latin typeface="Inter"/>
              </a:rPr>
              <a:t>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 i="0">
                <a:solidFill>
                  <a:srgbClr val="1D1A14"/>
                </a:solidFill>
                <a:latin typeface="Instrument Serif"/>
              </a:rPr>
              <a:t>How each layer breaks, and the cheapest unblock.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2743200"/>
            <a:ext cx="10607040" cy="0"/>
          </a:xfrm>
          <a:prstGeom prst="line">
            <a:avLst/>
          </a:prstGeom>
          <a:ln w="6350">
            <a:solidFill>
              <a:srgbClr val="E9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1089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D1A14"/>
                </a:solidFill>
                <a:latin typeface="Inter"/>
              </a:rPr>
              <a:t>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3108960"/>
            <a:ext cx="7498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675B"/>
                </a:solidFill>
                <a:latin typeface="Inter"/>
              </a:rPr>
              <a:t>Local FS today. Swap to S3 + CloudFront signed URLs for private events.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3931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D1A14"/>
                </a:solidFill>
                <a:latin typeface="Inter"/>
              </a:rPr>
              <a:t>Image variants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3639312"/>
            <a:ext cx="7498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675B"/>
                </a:solidFill>
                <a:latin typeface="Inter"/>
              </a:rPr>
              <a:t>Sync inside the upload request now. Move to a Bull queue once batches &gt;50 photos.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966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D1A14"/>
                </a:solidFill>
                <a:latin typeface="Inter"/>
              </a:rPr>
              <a:t>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4169664"/>
            <a:ext cx="7498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675B"/>
                </a:solidFill>
                <a:latin typeface="Inter"/>
              </a:rPr>
              <a:t>Postgres FTS scales to ~1M rows. Replicate to Meilisearch beyond that.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70001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D1A14"/>
                </a:solidFill>
                <a:latin typeface="Inter"/>
              </a:rPr>
              <a:t>Sessions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4700016"/>
            <a:ext cx="7498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675B"/>
                </a:solidFill>
                <a:latin typeface="Inter"/>
              </a:rPr>
              <a:t>Single API node today. Move JWT keys to KMS, deploy behind an ALB.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303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D1A14"/>
                </a:solidFill>
                <a:latin typeface="Inter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5230368"/>
            <a:ext cx="7498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675B"/>
                </a:solidFill>
                <a:latin typeface="Inter"/>
              </a:rPr>
              <a:t>Single Postgres. Read replicas; partition media by event_id.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9E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160">
                <a:solidFill>
                  <a:srgbClr val="6E675B"/>
                </a:solidFill>
                <a:latin typeface="Inter"/>
              </a:rPr>
              <a:t>12 /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56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 i="1">
                <a:solidFill>
                  <a:srgbClr val="6E675B"/>
                </a:solidFill>
                <a:latin typeface="Instrument Serif"/>
              </a:rPr>
              <a:t>Momentra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94944"/>
            <a:ext cx="64008" cy="64008"/>
          </a:xfrm>
          <a:prstGeom prst="rect">
            <a:avLst/>
          </a:prstGeom>
          <a:solidFill>
            <a:srgbClr val="1D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240">
                <a:solidFill>
                  <a:srgbClr val="1D1A14"/>
                </a:solidFill>
                <a:latin typeface="Inter"/>
              </a:rPr>
              <a:t>CODE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 i="0">
                <a:solidFill>
                  <a:srgbClr val="1D1A14"/>
                </a:solidFill>
                <a:latin typeface="Instrument Serif"/>
              </a:rPr>
              <a:t>Small surface area is the feature.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2743200"/>
            <a:ext cx="10607040" cy="0"/>
          </a:xfrm>
          <a:prstGeom prst="line">
            <a:avLst/>
          </a:prstGeom>
          <a:ln w="6350">
            <a:solidFill>
              <a:srgbClr val="E9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10896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10287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D1A14"/>
                </a:solidFill>
                <a:latin typeface="Inter"/>
              </a:rPr>
              <a:t>TypeScript strict mode on both client and server. No `any` escape hatches in route handlers.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93008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93008"/>
            <a:ext cx="10287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D1A14"/>
                </a:solidFill>
                <a:latin typeface="Inter"/>
              </a:rPr>
              <a:t>Seven server route files. Twelve client pages. One Zustand store. One QueryClient.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77056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77056"/>
            <a:ext cx="10287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D1A14"/>
                </a:solidFill>
                <a:latin typeface="Inter"/>
              </a:rPr>
              <a:t>Single lint config, single test runner (vitest), single way to build (npm run build).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61104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61104"/>
            <a:ext cx="10287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D1A14"/>
                </a:solidFill>
                <a:latin typeface="Inter"/>
              </a:rPr>
              <a:t>CI typechecks both workspaces and builds Docker images on every push.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45152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8A08F"/>
                </a:solidFill>
                <a:latin typeface="Inter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45152"/>
            <a:ext cx="10287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D1A14"/>
                </a:solidFill>
                <a:latin typeface="Inter"/>
              </a:rPr>
              <a:t>CSS Modules — scoped, greppable, zero runtime, easy to delete.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9E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160">
                <a:solidFill>
                  <a:srgbClr val="6E675B"/>
                </a:solidFill>
                <a:latin typeface="Inter"/>
              </a:rPr>
              <a:t>13 /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56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 i="1">
                <a:solidFill>
                  <a:srgbClr val="6E675B"/>
                </a:solidFill>
                <a:latin typeface="Instrument Serif"/>
              </a:rPr>
              <a:t>Momentra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94944"/>
            <a:ext cx="64008" cy="64008"/>
          </a:xfrm>
          <a:prstGeom prst="rect">
            <a:avLst/>
          </a:prstGeom>
          <a:solidFill>
            <a:srgbClr val="1D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240">
                <a:solidFill>
                  <a:srgbClr val="1D1A14"/>
                </a:solidFill>
                <a:latin typeface="Inter"/>
              </a:rPr>
              <a:t>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0" i="0">
                <a:solidFill>
                  <a:srgbClr val="1D1A14"/>
                </a:solidFill>
                <a:latin typeface="Instrument Serif"/>
              </a:rPr>
              <a:t>Each choice has a runner-up it beat.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2743200"/>
            <a:ext cx="10607040" cy="0"/>
          </a:xfrm>
          <a:prstGeom prst="line">
            <a:avLst/>
          </a:prstGeom>
          <a:ln w="6350">
            <a:solidFill>
              <a:srgbClr val="E9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1089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200">
                <a:solidFill>
                  <a:srgbClr val="A8A08F"/>
                </a:solidFill>
                <a:latin typeface="Inter"/>
              </a:rPr>
              <a:t>WE CHOSE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31089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200">
                <a:solidFill>
                  <a:srgbClr val="A8A08F"/>
                </a:solidFill>
                <a:latin typeface="Inter"/>
              </a:rPr>
              <a:t>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31089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200">
                <a:solidFill>
                  <a:srgbClr val="A8A08F"/>
                </a:solidFill>
                <a:latin typeface="Inter"/>
              </a:rPr>
              <a:t>BECAUSE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3429000"/>
            <a:ext cx="10607040" cy="0"/>
          </a:xfrm>
          <a:prstGeom prst="line">
            <a:avLst/>
          </a:prstGeom>
          <a:ln w="6350">
            <a:solidFill>
              <a:srgbClr val="E9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36118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D1A14"/>
                </a:solidFill>
                <a:latin typeface="Inter"/>
              </a:rPr>
              <a:t>Vite SPA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36118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A8A08F"/>
                </a:solidFill>
                <a:latin typeface="Inter"/>
              </a:rPr>
              <a:t>Next.js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361188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E675B"/>
                </a:solidFill>
                <a:latin typeface="Inter"/>
              </a:rPr>
              <a:t>No SSR needed; pure client app.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3250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D1A14"/>
                </a:solidFill>
                <a:latin typeface="Inter"/>
              </a:rPr>
              <a:t>CSS Modules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403250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A8A08F"/>
                </a:solidFill>
                <a:latin typeface="Inter"/>
              </a:rPr>
              <a:t>Tailwind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4032504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E675B"/>
                </a:solidFill>
                <a:latin typeface="Inter"/>
              </a:rPr>
              <a:t>12 screens — scoped CSS is faster to author and grep.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531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D1A14"/>
                </a:solidFill>
                <a:latin typeface="Inter"/>
              </a:rPr>
              <a:t>Zustand +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44531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A8A08F"/>
                </a:solidFill>
                <a:latin typeface="Inter"/>
              </a:rPr>
              <a:t>Redux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445312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E675B"/>
                </a:solidFill>
                <a:latin typeface="Inter"/>
              </a:rPr>
              <a:t>Auth is the only true client state.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7375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D1A14"/>
                </a:solidFill>
                <a:latin typeface="Inter"/>
              </a:rPr>
              <a:t>Prisma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87375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A8A08F"/>
                </a:solidFill>
                <a:latin typeface="Inter"/>
              </a:rPr>
              <a:t>Raw 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4873752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E675B"/>
                </a:solidFill>
                <a:latin typeface="Inter"/>
              </a:rPr>
              <a:t>Type-safe migrations + the schema is the docs.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9437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D1A14"/>
                </a:solidFill>
                <a:latin typeface="Inter"/>
              </a:rPr>
              <a:t>Sharp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529437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A8A08F"/>
                </a:solidFill>
                <a:latin typeface="Inter"/>
              </a:rPr>
              <a:t>imagemagick CLI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294376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E675B"/>
                </a:solidFill>
                <a:latin typeface="Inter"/>
              </a:rPr>
              <a:t>Native Node bindings, faster, smaller.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7150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D1A14"/>
                </a:solidFill>
                <a:latin typeface="Inter"/>
              </a:rPr>
              <a:t>RS256 JWT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57150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A8A08F"/>
                </a:solidFill>
                <a:latin typeface="Inter"/>
              </a:rPr>
              <a:t>Session cookies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571500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E675B"/>
                </a:solidFill>
                <a:latin typeface="Inter"/>
              </a:rPr>
              <a:t>Stateless API; still revocable via refresh-token table.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9E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160">
                <a:solidFill>
                  <a:srgbClr val="6E675B"/>
                </a:solidFill>
                <a:latin typeface="Inter"/>
              </a:rPr>
              <a:t>14 / 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56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 i="1">
                <a:solidFill>
                  <a:srgbClr val="6E675B"/>
                </a:solidFill>
                <a:latin typeface="Instrument Serif"/>
              </a:rPr>
              <a:t>Momentra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4495" y="0"/>
            <a:ext cx="457200" cy="6858000"/>
          </a:xfrm>
          <a:prstGeom prst="rect">
            <a:avLst/>
          </a:prstGeom>
          <a:solidFill>
            <a:srgbClr val="E9E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37744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0" b="0" i="0">
                <a:solidFill>
                  <a:srgbClr val="1D1A14"/>
                </a:solidFill>
                <a:latin typeface="Instrument Serif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20624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i="1">
                <a:solidFill>
                  <a:srgbClr val="6E675B"/>
                </a:solidFill>
                <a:latin typeface="Instrument Serif"/>
              </a:rPr>
              <a:t>Capture every moment, share every story.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61104" y="5212080"/>
            <a:ext cx="3657600" cy="0"/>
          </a:xfrm>
          <a:prstGeom prst="line">
            <a:avLst/>
          </a:prstGeom>
          <a:ln w="6350">
            <a:solidFill>
              <a:srgbClr val="D6C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544068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 spc="160">
                <a:solidFill>
                  <a:srgbClr val="6E675B"/>
                </a:solidFill>
                <a:latin typeface="Inter"/>
              </a:rPr>
              <a:t>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